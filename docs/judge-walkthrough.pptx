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85216"/>
          </a:xfrm>
          <a:prstGeom prst="rect">
            <a:avLst/>
          </a:prstGeom>
          <a:solidFill>
            <a:srgbClr val="08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28016"/>
            <a:ext cx="201168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venir Next"/>
              </a:defRPr>
            </a:pPr>
            <a:r>
              <a:t>PETAK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55448"/>
            <a:ext cx="46177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venir Next"/>
              </a:defRPr>
            </a:pPr>
            <a:r>
              <a:t>JUDGE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"/>
            <a:ext cx="22219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AI BUILDER CUP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859536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>
                <a:solidFill>
                  <a:srgbClr val="21232B"/>
                </a:solidFill>
                <a:latin typeface="Avenir Next"/>
              </a:defRPr>
            </a:pPr>
            <a:r>
              <a:t>Use Petak: a 6-minute judge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10881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B5E67"/>
                </a:solidFill>
                <a:latin typeface="Avenir Next"/>
              </a:defRPr>
            </a:pPr>
            <a:r>
              <a:t>A practical path through the prepared reviewer account and one new capture.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13716"/>
          </a:xfrm>
          <a:prstGeom prst="rect">
            <a:avLst/>
          </a:prstGeom>
          <a:solidFill>
            <a:srgbClr val="D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74536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>
                <a:solidFill>
                  <a:srgbClr val="5B5E67"/>
                </a:solidFill>
                <a:latin typeface="Avenir Next"/>
              </a:defRPr>
            </a:pPr>
            <a:r>
              <a:t>Petak QA · use the reviewer access supplied separately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8248" y="6556248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B5E67"/>
                </a:solidFill>
                <a:latin typeface="Avenir Next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176272"/>
            <a:ext cx="75438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468880"/>
            <a:ext cx="39319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21A391"/>
                </a:solidFill>
                <a:latin typeface="Avenir Next"/>
              </a:defRPr>
            </a:pPr>
            <a:r>
              <a:t>Start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07792"/>
            <a:ext cx="6903720" cy="18653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900" b="1">
                <a:solidFill>
                  <a:srgbClr val="21232B"/>
                </a:solidFill>
                <a:latin typeface="Avenir Next"/>
              </a:defRPr>
            </a:pPr>
            <a:r>
              <a:t>Open a conversation.</a:t>
            </a:r>
            <a:br/>
            <a:r>
              <a:t>Check a saved record.</a:t>
            </a:r>
            <a:br/>
            <a:r>
              <a:t>Try a photo.</a:t>
            </a:r>
          </a:p>
        </p:txBody>
      </p:sp>
      <p:pic>
        <p:nvPicPr>
          <p:cNvPr id="15" name="Picture 14" descr="ollie_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2779776"/>
            <a:ext cx="640080" cy="640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12480" y="3483864"/>
            <a:ext cx="7589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21232B"/>
                </a:solidFill>
                <a:latin typeface="Avenir Next"/>
              </a:defRPr>
            </a:pPr>
            <a:r>
              <a:t>Ollie</a:t>
            </a:r>
          </a:p>
        </p:txBody>
      </p:sp>
      <p:pic>
        <p:nvPicPr>
          <p:cNvPr id="17" name="Picture 16" descr="penny_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4" y="2779776"/>
            <a:ext cx="640080" cy="640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36024" y="3483864"/>
            <a:ext cx="7589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21232B"/>
                </a:solidFill>
                <a:latin typeface="Avenir Next"/>
              </a:defRPr>
            </a:pPr>
            <a:r>
              <a:t>Penny</a:t>
            </a:r>
          </a:p>
        </p:txBody>
      </p:sp>
      <p:pic>
        <p:nvPicPr>
          <p:cNvPr id="19" name="Picture 18" descr="milo_h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5288" y="2779776"/>
            <a:ext cx="640080" cy="640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59567" y="3483864"/>
            <a:ext cx="7589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21232B"/>
                </a:solidFill>
                <a:latin typeface="Avenir Next"/>
              </a:defRPr>
            </a:pPr>
            <a:r>
              <a:t>Milo</a:t>
            </a:r>
          </a:p>
        </p:txBody>
      </p:sp>
      <p:pic>
        <p:nvPicPr>
          <p:cNvPr id="21" name="Picture 20" descr="mira_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8832" y="2779776"/>
            <a:ext cx="640080" cy="6400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83111" y="3483864"/>
            <a:ext cx="7589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21232B"/>
                </a:solidFill>
                <a:latin typeface="Avenir Next"/>
              </a:defRPr>
            </a:pPr>
            <a:r>
              <a:t>Mira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" y="5879592"/>
            <a:ext cx="11128248" cy="438912"/>
          </a:xfrm>
          <a:prstGeom prst="roundRect">
            <a:avLst>
              <a:gd name="adj" fmla="val 8000"/>
            </a:avLst>
          </a:prstGeom>
          <a:solidFill>
            <a:srgbClr val="EE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207" y="5879592"/>
            <a:ext cx="73152" cy="438912"/>
          </a:xfrm>
          <a:prstGeom prst="rect">
            <a:avLst/>
          </a:prstGeom>
          <a:solidFill>
            <a:srgbClr val="21A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971031"/>
            <a:ext cx="1069848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21232B"/>
                </a:solidFill>
                <a:latin typeface="Avenir Next"/>
              </a:defRPr>
            </a:pPr>
            <a:r>
              <a:t>Use the private QA build and reviewer credentials provided with the submission.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85216"/>
          </a:xfrm>
          <a:prstGeom prst="rect">
            <a:avLst/>
          </a:prstGeom>
          <a:solidFill>
            <a:srgbClr val="08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28016"/>
            <a:ext cx="201168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venir Next"/>
              </a:defRPr>
            </a:pPr>
            <a:r>
              <a:t>PETAK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55448"/>
            <a:ext cx="46177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venir Next"/>
              </a:defRPr>
            </a:pPr>
            <a:r>
              <a:t>JUDGE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"/>
            <a:ext cx="22219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AI BUILDER CUP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859536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>
                <a:solidFill>
                  <a:srgbClr val="21232B"/>
                </a:solidFill>
                <a:latin typeface="Avenir Next"/>
              </a:defRPr>
            </a:pPr>
            <a:r>
              <a:t>1  Open the prepared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10881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B5E67"/>
                </a:solidFill>
                <a:latin typeface="Avenir Next"/>
              </a:defRPr>
            </a:pPr>
            <a:r>
              <a:t>The shared reviewer account already contains examples for every active specialist.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13716"/>
          </a:xfrm>
          <a:prstGeom prst="rect">
            <a:avLst/>
          </a:prstGeom>
          <a:solidFill>
            <a:srgbClr val="D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74536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>
                <a:solidFill>
                  <a:srgbClr val="5B5E67"/>
                </a:solidFill>
                <a:latin typeface="Avenir Next"/>
              </a:defRPr>
            </a:pPr>
            <a:r>
              <a:t>Petak QA · use the reviewer access supplied separately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8248" y="6556248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B5E67"/>
                </a:solidFill>
                <a:latin typeface="Avenir Next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148840"/>
            <a:ext cx="3547872" cy="3264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148840"/>
            <a:ext cx="3547872" cy="68580"/>
          </a:xfrm>
          <a:prstGeom prst="rect">
            <a:avLst/>
          </a:prstGeom>
          <a:solidFill>
            <a:srgbClr val="21A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" y="23957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1A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459736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395728"/>
            <a:ext cx="248716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21232B"/>
                </a:solidFill>
                <a:latin typeface="Avenir Next"/>
              </a:defRPr>
            </a:pPr>
            <a:r>
              <a:t>Install /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081528"/>
            <a:ext cx="3035808" cy="21488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>
                <a:solidFill>
                  <a:srgbClr val="21232B"/>
                </a:solidFill>
                <a:latin typeface="Avenir Next"/>
              </a:defRPr>
            </a:pPr>
            <a:r>
              <a:t>Open the Petak QA build supplied in the private judge access instructions.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148840"/>
            <a:ext cx="3547872" cy="3264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2148840"/>
            <a:ext cx="3547872" cy="68580"/>
          </a:xfrm>
          <a:prstGeom prst="rect">
            <a:avLst/>
          </a:prstGeom>
          <a:solidFill>
            <a:srgbClr val="DFA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44568" y="23957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FA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459736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2395728"/>
            <a:ext cx="248716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21232B"/>
                </a:solidFill>
                <a:latin typeface="Avenir Next"/>
              </a:defRPr>
            </a:pPr>
            <a:r>
              <a:t>Sign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081528"/>
            <a:ext cx="3035808" cy="21488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>
                <a:solidFill>
                  <a:srgbClr val="21232B"/>
                </a:solidFill>
                <a:latin typeface="Avenir Next"/>
              </a:defRPr>
            </a:pPr>
            <a:r>
              <a:t>Use the reviewer sign-in details supplied separately. The public repository contains no password.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2148840"/>
            <a:ext cx="3547872" cy="3264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3" y="2148840"/>
            <a:ext cx="3547872" cy="68580"/>
          </a:xfrm>
          <a:prstGeom prst="rect">
            <a:avLst/>
          </a:prstGeom>
          <a:solidFill>
            <a:srgbClr val="8E64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30183" y="23957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8E64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2459736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4" y="2395728"/>
            <a:ext cx="248716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21232B"/>
                </a:solidFill>
                <a:latin typeface="Avenir Next"/>
              </a:defRPr>
            </a:pPr>
            <a:r>
              <a:t>Check the home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3081528"/>
            <a:ext cx="3035808" cy="21488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>
                <a:solidFill>
                  <a:srgbClr val="21232B"/>
                </a:solidFill>
                <a:latin typeface="Avenir Next"/>
              </a:defRPr>
            </a:pPr>
            <a:r>
              <a:t>Start in Chat. Ollie, Penny, Milo and Mira should already be available.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7" y="5833872"/>
            <a:ext cx="11128248" cy="438912"/>
          </a:xfrm>
          <a:prstGeom prst="roundRect">
            <a:avLst>
              <a:gd name="adj" fmla="val 8000"/>
            </a:avLst>
          </a:prstGeom>
          <a:solidFill>
            <a:srgbClr val="EE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207" y="5833872"/>
            <a:ext cx="73152" cy="438912"/>
          </a:xfrm>
          <a:prstGeom prst="rect">
            <a:avLst/>
          </a:prstGeom>
          <a:solidFill>
            <a:srgbClr val="DFA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925312"/>
            <a:ext cx="1069848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21232B"/>
                </a:solidFill>
                <a:latin typeface="Avenir Next"/>
              </a:defRPr>
            </a:pPr>
            <a:r>
              <a:t>Shared account: any new messages or edits may be visible to other judges.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85216"/>
          </a:xfrm>
          <a:prstGeom prst="rect">
            <a:avLst/>
          </a:prstGeom>
          <a:solidFill>
            <a:srgbClr val="08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28016"/>
            <a:ext cx="201168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venir Next"/>
              </a:defRPr>
            </a:pPr>
            <a:r>
              <a:t>PETAK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55448"/>
            <a:ext cx="46177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venir Next"/>
              </a:defRPr>
            </a:pPr>
            <a:r>
              <a:t>JUDGE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"/>
            <a:ext cx="22219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AI BUILDER CUP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859536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>
                <a:solidFill>
                  <a:srgbClr val="21232B"/>
                </a:solidFill>
                <a:latin typeface="Avenir Next"/>
              </a:defRPr>
            </a:pPr>
            <a:r>
              <a:t>2  Know where to look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10881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B5E67"/>
                </a:solidFill>
                <a:latin typeface="Avenir Next"/>
              </a:defRPr>
            </a:pPr>
            <a:r>
              <a:t>Chat is the front door. The board and dashboards show the saved result.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13716"/>
          </a:xfrm>
          <a:prstGeom prst="rect">
            <a:avLst/>
          </a:prstGeom>
          <a:solidFill>
            <a:srgbClr val="D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74536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>
                <a:solidFill>
                  <a:srgbClr val="5B5E67"/>
                </a:solidFill>
                <a:latin typeface="Avenir Next"/>
              </a:defRPr>
            </a:pPr>
            <a:r>
              <a:t>Petak QA · use the reviewer access supplied separately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8248" y="6556248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B5E67"/>
                </a:solidFill>
                <a:latin typeface="Avenir Next"/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194560"/>
            <a:ext cx="2660904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194560"/>
            <a:ext cx="2660904" cy="64008"/>
          </a:xfrm>
          <a:prstGeom prst="rect">
            <a:avLst/>
          </a:prstGeom>
          <a:solidFill>
            <a:srgbClr val="21A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ollie_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1" y="2450592"/>
            <a:ext cx="850392" cy="8503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" y="3447288"/>
            <a:ext cx="2286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200" b="1">
                <a:solidFill>
                  <a:srgbClr val="21232B"/>
                </a:solidFill>
                <a:latin typeface="Avenir Next"/>
              </a:defRPr>
            </a:pPr>
            <a:r>
              <a:t>Ollie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3968496"/>
            <a:ext cx="2240280" cy="1060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0">
                <a:solidFill>
                  <a:srgbClr val="21232B"/>
                </a:solidFill>
                <a:latin typeface="Avenir Next"/>
              </a:defRPr>
            </a:pPr>
            <a:r>
              <a:t>Chat and routing. Ask a question or share a photo.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6704" y="2194560"/>
            <a:ext cx="2660904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6704" y="2194560"/>
            <a:ext cx="2660904" cy="64008"/>
          </a:xfrm>
          <a:prstGeom prst="rect">
            <a:avLst/>
          </a:prstGeom>
          <a:solidFill>
            <a:srgbClr val="DFA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enny_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2450592"/>
            <a:ext cx="850392" cy="8503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529584" y="3447288"/>
            <a:ext cx="2286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200" b="1">
                <a:solidFill>
                  <a:srgbClr val="21232B"/>
                </a:solidFill>
                <a:latin typeface="Avenir Next"/>
              </a:defRPr>
            </a:pPr>
            <a:r>
              <a:t>Penny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6" y="3968496"/>
            <a:ext cx="2240280" cy="1060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0">
                <a:solidFill>
                  <a:srgbClr val="21232B"/>
                </a:solidFill>
                <a:latin typeface="Avenir Next"/>
              </a:defRPr>
            </a:pPr>
            <a:r>
              <a:t>Spending history and the Penny dashboard.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194560"/>
            <a:ext cx="2660904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194560"/>
            <a:ext cx="2660904" cy="64008"/>
          </a:xfrm>
          <a:prstGeom prst="rect">
            <a:avLst/>
          </a:prstGeom>
          <a:solidFill>
            <a:srgbClr val="E86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ilo_h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2450592"/>
            <a:ext cx="850392" cy="8503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45936" y="3447288"/>
            <a:ext cx="2286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200" b="1">
                <a:solidFill>
                  <a:srgbClr val="21232B"/>
                </a:solidFill>
                <a:latin typeface="Avenir Next"/>
              </a:defRPr>
            </a:pPr>
            <a:r>
              <a:t>Milo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968496"/>
            <a:ext cx="2240280" cy="1060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0">
                <a:solidFill>
                  <a:srgbClr val="21232B"/>
                </a:solidFill>
                <a:latin typeface="Avenir Next"/>
              </a:defRPr>
            </a:pPr>
            <a:r>
              <a:t>Food log and the Milo dashboard.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9408" y="2194560"/>
            <a:ext cx="2660904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9408" y="2194560"/>
            <a:ext cx="2660904" cy="64008"/>
          </a:xfrm>
          <a:prstGeom prst="rect">
            <a:avLst/>
          </a:prstGeom>
          <a:solidFill>
            <a:srgbClr val="8E64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mira_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8088" y="2450592"/>
            <a:ext cx="850392" cy="8503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62288" y="3447288"/>
            <a:ext cx="2286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200" b="1">
                <a:solidFill>
                  <a:srgbClr val="21232B"/>
                </a:solidFill>
                <a:latin typeface="Avenir Next"/>
              </a:defRPr>
            </a:pPr>
            <a:r>
              <a:t>Mira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968496"/>
            <a:ext cx="2240280" cy="1060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0">
                <a:solidFill>
                  <a:srgbClr val="21232B"/>
                </a:solidFill>
                <a:latin typeface="Avenir Next"/>
              </a:defRPr>
            </a:pPr>
            <a:r>
              <a:t>Journal entries and the Mira dashboard.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7" y="5833872"/>
            <a:ext cx="11128248" cy="438912"/>
          </a:xfrm>
          <a:prstGeom prst="roundRect">
            <a:avLst>
              <a:gd name="adj" fmla="val 8000"/>
            </a:avLst>
          </a:prstGeom>
          <a:solidFill>
            <a:srgbClr val="EE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207" y="5833872"/>
            <a:ext cx="73152" cy="438912"/>
          </a:xfrm>
          <a:prstGeom prst="rect">
            <a:avLst/>
          </a:prstGeom>
          <a:solidFill>
            <a:srgbClr val="21A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925312"/>
            <a:ext cx="1069848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21232B"/>
                </a:solidFill>
                <a:latin typeface="Avenir Next"/>
              </a:defRPr>
            </a:pPr>
            <a:r>
              <a:t>Open Ollie's board to inspect tasks. Use the menu to switch between specialist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85216"/>
          </a:xfrm>
          <a:prstGeom prst="rect">
            <a:avLst/>
          </a:prstGeom>
          <a:solidFill>
            <a:srgbClr val="08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28016"/>
            <a:ext cx="201168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venir Next"/>
              </a:defRPr>
            </a:pPr>
            <a:r>
              <a:t>PETAK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55448"/>
            <a:ext cx="46177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venir Next"/>
              </a:defRPr>
            </a:pPr>
            <a:r>
              <a:t>JUDGE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"/>
            <a:ext cx="22219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AI BUILDER CUP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859536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>
                <a:solidFill>
                  <a:srgbClr val="21232B"/>
                </a:solidFill>
                <a:latin typeface="Avenir Next"/>
              </a:defRPr>
            </a:pPr>
            <a:r>
              <a:t>3  Compare a prepared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10881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B5E67"/>
                </a:solidFill>
                <a:latin typeface="Avenir Next"/>
              </a:defRPr>
            </a:pPr>
            <a:r>
              <a:t>Use these records to see how conversation becomes a usable log.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13716"/>
          </a:xfrm>
          <a:prstGeom prst="rect">
            <a:avLst/>
          </a:prstGeom>
          <a:solidFill>
            <a:srgbClr val="D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74536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>
                <a:solidFill>
                  <a:srgbClr val="5B5E67"/>
                </a:solidFill>
                <a:latin typeface="Avenir Next"/>
              </a:defRPr>
            </a:pPr>
            <a:r>
              <a:t>Petak QA · use the reviewer access supplied separately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8248" y="6556248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B5E67"/>
                </a:solidFill>
                <a:latin typeface="Avenir Next"/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176272"/>
            <a:ext cx="5349240" cy="3346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176272"/>
            <a:ext cx="5349240" cy="64008"/>
          </a:xfrm>
          <a:prstGeom prst="rect">
            <a:avLst/>
          </a:prstGeom>
          <a:solidFill>
            <a:srgbClr val="E86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05456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E86F56"/>
                </a:solidFill>
                <a:latin typeface="Avenir Next"/>
              </a:defRPr>
            </a:pPr>
            <a:r>
              <a:t>MILO · FOOD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44368"/>
            <a:ext cx="466344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21232B"/>
                </a:solidFill>
                <a:latin typeface="Avenir Next"/>
              </a:defRPr>
            </a:pPr>
            <a:r>
              <a:t>4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675887"/>
            <a:ext cx="466344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0">
                <a:solidFill>
                  <a:srgbClr val="21232B"/>
                </a:solidFill>
                <a:latin typeface="Avenir Next"/>
              </a:defRPr>
            </a:pPr>
            <a:r>
              <a:t>Sandwich and coffee</a:t>
            </a:r>
            <a:br/>
            <a:r>
              <a:t>from Corner Bakery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176272"/>
            <a:ext cx="5349240" cy="3346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176272"/>
            <a:ext cx="5349240" cy="64008"/>
          </a:xfrm>
          <a:prstGeom prst="rect">
            <a:avLst/>
          </a:prstGeom>
          <a:solidFill>
            <a:srgbClr val="DFA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505456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DFA538"/>
                </a:solidFill>
                <a:latin typeface="Avenir Next"/>
              </a:defRPr>
            </a:pPr>
            <a:r>
              <a:t>PENNY · SPENDING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44368"/>
            <a:ext cx="466344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>
                <a:solidFill>
                  <a:srgbClr val="21232B"/>
                </a:solidFill>
                <a:latin typeface="Avenir Next"/>
              </a:defRPr>
            </a:pPr>
            <a:r>
              <a:t>4 October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75887"/>
            <a:ext cx="466344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0">
                <a:solidFill>
                  <a:srgbClr val="21232B"/>
                </a:solidFill>
                <a:latin typeface="Avenir Next"/>
              </a:defRPr>
            </a:pPr>
            <a:r>
              <a:t>Corner Bakery expense</a:t>
            </a:r>
            <a:br/>
            <a:r>
              <a:t>S$9.60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7" y="5852160"/>
            <a:ext cx="11128248" cy="438912"/>
          </a:xfrm>
          <a:prstGeom prst="roundRect">
            <a:avLst>
              <a:gd name="adj" fmla="val 8000"/>
            </a:avLst>
          </a:prstGeom>
          <a:solidFill>
            <a:srgbClr val="EE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1207" y="5852160"/>
            <a:ext cx="73152" cy="438912"/>
          </a:xfrm>
          <a:prstGeom prst="rect">
            <a:avLst/>
          </a:prstGeom>
          <a:solidFill>
            <a:srgbClr val="DFA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43600"/>
            <a:ext cx="1069848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21232B"/>
                </a:solidFill>
                <a:latin typeface="Avenir Next"/>
              </a:defRPr>
            </a:pPr>
            <a:r>
              <a:t>These are aligned text examples. They are not a linked receipt-and-meal photo pair.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85216"/>
          </a:xfrm>
          <a:prstGeom prst="rect">
            <a:avLst/>
          </a:prstGeom>
          <a:solidFill>
            <a:srgbClr val="08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28016"/>
            <a:ext cx="201168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venir Next"/>
              </a:defRPr>
            </a:pPr>
            <a:r>
              <a:t>PETAK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55448"/>
            <a:ext cx="46177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venir Next"/>
              </a:defRPr>
            </a:pPr>
            <a:r>
              <a:t>JUDGE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"/>
            <a:ext cx="22219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AI BUILDER CUP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859536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>
                <a:solidFill>
                  <a:srgbClr val="21232B"/>
                </a:solidFill>
                <a:latin typeface="Avenir Next"/>
              </a:defRPr>
            </a:pPr>
            <a:r>
              <a:t>4  Try a new food receipt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10881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B5E67"/>
                </a:solidFill>
                <a:latin typeface="Avenir Next"/>
              </a:defRPr>
            </a:pPr>
            <a:r>
              <a:t>Use a sample receipt with no personal information.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13716"/>
          </a:xfrm>
          <a:prstGeom prst="rect">
            <a:avLst/>
          </a:prstGeom>
          <a:solidFill>
            <a:srgbClr val="D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74536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>
                <a:solidFill>
                  <a:srgbClr val="5B5E67"/>
                </a:solidFill>
                <a:latin typeface="Avenir Next"/>
              </a:defRPr>
            </a:pPr>
            <a:r>
              <a:t>Petak QA · use the reviewer access supplied separately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8248" y="6556248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B5E67"/>
                </a:solidFill>
                <a:latin typeface="Avenir Next"/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148840"/>
            <a:ext cx="3547872" cy="3264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148840"/>
            <a:ext cx="3547872" cy="68580"/>
          </a:xfrm>
          <a:prstGeom prst="rect">
            <a:avLst/>
          </a:prstGeom>
          <a:solidFill>
            <a:srgbClr val="21A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" y="23957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1A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459736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395728"/>
            <a:ext cx="248716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21232B"/>
                </a:solidFill>
                <a:latin typeface="Avenir Next"/>
              </a:defRPr>
            </a:pPr>
            <a:r>
              <a:t>Attach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081528"/>
            <a:ext cx="3035808" cy="21488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>
                <a:solidFill>
                  <a:srgbClr val="21232B"/>
                </a:solidFill>
                <a:latin typeface="Avenir Next"/>
              </a:defRPr>
            </a:pPr>
            <a:r>
              <a:t>In Chat, tap the paperclip and choose “From your photos”. Select a clear sample receipt.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148840"/>
            <a:ext cx="3547872" cy="3264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2148840"/>
            <a:ext cx="3547872" cy="68580"/>
          </a:xfrm>
          <a:prstGeom prst="rect">
            <a:avLst/>
          </a:prstGeom>
          <a:solidFill>
            <a:srgbClr val="DFA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44568" y="23957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FA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459736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2395728"/>
            <a:ext cx="248716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21232B"/>
                </a:solidFill>
                <a:latin typeface="Avenir Next"/>
              </a:defRPr>
            </a:pPr>
            <a:r>
              <a:t>Add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081528"/>
            <a:ext cx="3035808" cy="21488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>
                <a:solidFill>
                  <a:srgbClr val="21232B"/>
                </a:solidFill>
                <a:latin typeface="Avenir Next"/>
              </a:defRPr>
            </a:pPr>
            <a:r>
              <a:t>Type a short caption, for example: “Lunch receipt. I ate the sandwich and drank the coffee.”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2148840"/>
            <a:ext cx="3547872" cy="3264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3" y="2148840"/>
            <a:ext cx="3547872" cy="68580"/>
          </a:xfrm>
          <a:prstGeom prst="rect">
            <a:avLst/>
          </a:prstGeom>
          <a:solidFill>
            <a:srgbClr val="E86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30183" y="23957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86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2459736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4" y="2395728"/>
            <a:ext cx="248716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21232B"/>
                </a:solidFill>
                <a:latin typeface="Avenir Next"/>
              </a:defRPr>
            </a:pPr>
            <a:r>
              <a:t>Send &amp;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3081528"/>
            <a:ext cx="3035808" cy="21488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>
                <a:solidFill>
                  <a:srgbClr val="21232B"/>
                </a:solidFill>
                <a:latin typeface="Avenir Next"/>
              </a:defRPr>
            </a:pPr>
            <a:r>
              <a:t>Send once. Read the replies, answer any clarification, then open Penny and Milo to check saved entries.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7" y="5833872"/>
            <a:ext cx="11128248" cy="438912"/>
          </a:xfrm>
          <a:prstGeom prst="roundRect">
            <a:avLst>
              <a:gd name="adj" fmla="val 8000"/>
            </a:avLst>
          </a:prstGeom>
          <a:solidFill>
            <a:srgbClr val="EE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207" y="5833872"/>
            <a:ext cx="73152" cy="438912"/>
          </a:xfrm>
          <a:prstGeom prst="rect">
            <a:avLst/>
          </a:prstGeom>
          <a:solidFill>
            <a:srgbClr val="21A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925312"/>
            <a:ext cx="1069848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21232B"/>
                </a:solidFill>
                <a:latin typeface="Avenir Next"/>
              </a:defRPr>
            </a:pPr>
            <a:r>
              <a:t>A receipt can inform more than one specialist; check what was actually saved before concluding.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85216"/>
          </a:xfrm>
          <a:prstGeom prst="rect">
            <a:avLst/>
          </a:prstGeom>
          <a:solidFill>
            <a:srgbClr val="08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28016"/>
            <a:ext cx="201168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venir Next"/>
              </a:defRPr>
            </a:pPr>
            <a:r>
              <a:t>PETAK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55448"/>
            <a:ext cx="46177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venir Next"/>
              </a:defRPr>
            </a:pPr>
            <a:r>
              <a:t>JUDGE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"/>
            <a:ext cx="22219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AI BUILDER CUP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859536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>
                <a:solidFill>
                  <a:srgbClr val="21232B"/>
                </a:solidFill>
                <a:latin typeface="Avenir Next"/>
              </a:defRPr>
            </a:pPr>
            <a:r>
              <a:t>5  Try a separate meal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10881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B5E67"/>
                </a:solidFill>
                <a:latin typeface="Avenir Next"/>
              </a:defRPr>
            </a:pPr>
            <a:r>
              <a:t>The prepared Milo food log already includes one photo example.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13716"/>
          </a:xfrm>
          <a:prstGeom prst="rect">
            <a:avLst/>
          </a:prstGeom>
          <a:solidFill>
            <a:srgbClr val="D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74536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>
                <a:solidFill>
                  <a:srgbClr val="5B5E67"/>
                </a:solidFill>
                <a:latin typeface="Avenir Next"/>
              </a:defRPr>
            </a:pPr>
            <a:r>
              <a:t>Petak QA · use the reviewer access supplied separately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8248" y="6556248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B5E67"/>
                </a:solidFill>
                <a:latin typeface="Avenir Next"/>
              </a:defRPr>
            </a:pPr>
            <a:r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148840"/>
            <a:ext cx="3547872" cy="3264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148840"/>
            <a:ext cx="3547872" cy="68580"/>
          </a:xfrm>
          <a:prstGeom prst="rect">
            <a:avLst/>
          </a:prstGeom>
          <a:solidFill>
            <a:srgbClr val="E86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" y="23957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86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459736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395728"/>
            <a:ext cx="248716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21232B"/>
                </a:solidFill>
                <a:latin typeface="Avenir Next"/>
              </a:defRPr>
            </a:pPr>
            <a:r>
              <a:t>Pick a meal photo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081528"/>
            <a:ext cx="3035808" cy="21488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>
                <a:solidFill>
                  <a:srgbClr val="21232B"/>
                </a:solidFill>
                <a:latin typeface="Avenir Next"/>
              </a:defRPr>
            </a:pPr>
            <a:r>
              <a:t>Use the camera button or attach a sample food photo from your library.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148840"/>
            <a:ext cx="3547872" cy="3264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2148840"/>
            <a:ext cx="3547872" cy="68580"/>
          </a:xfrm>
          <a:prstGeom prst="rect">
            <a:avLst/>
          </a:prstGeom>
          <a:solidFill>
            <a:srgbClr val="21A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44568" y="23957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1A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459736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2395728"/>
            <a:ext cx="248716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21232B"/>
                </a:solidFill>
                <a:latin typeface="Avenir Next"/>
              </a:defRPr>
            </a:pPr>
            <a:r>
              <a:t>Write a caption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081528"/>
            <a:ext cx="3035808" cy="21488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>
                <a:solidFill>
                  <a:srgbClr val="21232B"/>
                </a:solidFill>
                <a:latin typeface="Avenir Next"/>
              </a:defRPr>
            </a:pPr>
            <a:r>
              <a:t>For example: “I ate chicken porridge and a soft-boiled egg.” The photo and text send together.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2148840"/>
            <a:ext cx="3547872" cy="3264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3" y="2148840"/>
            <a:ext cx="3547872" cy="68580"/>
          </a:xfrm>
          <a:prstGeom prst="rect">
            <a:avLst/>
          </a:prstGeom>
          <a:solidFill>
            <a:srgbClr val="8E64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30183" y="23957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8E64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2459736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4" y="2395728"/>
            <a:ext cx="248716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21232B"/>
                </a:solidFill>
                <a:latin typeface="Avenir Next"/>
              </a:defRPr>
            </a:pPr>
            <a:r>
              <a:t>Check Milo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3081528"/>
            <a:ext cx="3035808" cy="21488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>
                <a:solidFill>
                  <a:srgbClr val="21232B"/>
                </a:solidFill>
                <a:latin typeface="Avenir Next"/>
              </a:defRPr>
            </a:pPr>
            <a:r>
              <a:t>Read Milo’s reply and inspect the new food log entry. Correct a detail in chat if needed.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7" y="5833872"/>
            <a:ext cx="11128248" cy="438912"/>
          </a:xfrm>
          <a:prstGeom prst="roundRect">
            <a:avLst>
              <a:gd name="adj" fmla="val 8000"/>
            </a:avLst>
          </a:prstGeom>
          <a:solidFill>
            <a:srgbClr val="EE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207" y="5833872"/>
            <a:ext cx="73152" cy="438912"/>
          </a:xfrm>
          <a:prstGeom prst="rect">
            <a:avLst/>
          </a:prstGeom>
          <a:solidFill>
            <a:srgbClr val="E86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925312"/>
            <a:ext cx="1069848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21232B"/>
                </a:solidFill>
                <a:latin typeface="Avenir Next"/>
              </a:defRPr>
            </a:pPr>
            <a:r>
              <a:t>Photo processing may take a moment. Exact replies and records depend on the image and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85216"/>
          </a:xfrm>
          <a:prstGeom prst="rect">
            <a:avLst/>
          </a:prstGeom>
          <a:solidFill>
            <a:srgbClr val="08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28016"/>
            <a:ext cx="201168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venir Next"/>
              </a:defRPr>
            </a:pPr>
            <a:r>
              <a:t>PETAK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55448"/>
            <a:ext cx="46177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venir Next"/>
              </a:defRPr>
            </a:pPr>
            <a:r>
              <a:t>JUDGE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64592"/>
            <a:ext cx="22219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venir Next"/>
              </a:defRPr>
            </a:pPr>
            <a:r>
              <a:t>AI BUILDER CUP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859536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>
                <a:solidFill>
                  <a:srgbClr val="21232B"/>
                </a:solidFill>
                <a:latin typeface="Avenir Next"/>
              </a:defRPr>
            </a:pPr>
            <a:r>
              <a:t>6  Verify the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17904"/>
            <a:ext cx="10881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B5E67"/>
                </a:solidFill>
                <a:latin typeface="Avenir Next"/>
              </a:defRPr>
            </a:pPr>
            <a:r>
              <a:t>Judge the saved state as well as the conversation.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13716"/>
          </a:xfrm>
          <a:prstGeom prst="rect">
            <a:avLst/>
          </a:prstGeom>
          <a:solidFill>
            <a:srgbClr val="DCD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74536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>
                <a:solidFill>
                  <a:srgbClr val="5B5E67"/>
                </a:solidFill>
                <a:latin typeface="Avenir Next"/>
              </a:defRPr>
            </a:pPr>
            <a:r>
              <a:t>Petak QA · use the reviewer access supplied separately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8248" y="6556248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B5E67"/>
                </a:solidFill>
                <a:latin typeface="Avenir Next"/>
              </a:defRPr>
            </a:pPr>
            <a: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148840"/>
            <a:ext cx="3547872" cy="3264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148840"/>
            <a:ext cx="3547872" cy="68580"/>
          </a:xfrm>
          <a:prstGeom prst="rect">
            <a:avLst/>
          </a:prstGeom>
          <a:solidFill>
            <a:srgbClr val="DFA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" y="23957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FA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459736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395728"/>
            <a:ext cx="248716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21232B"/>
                </a:solidFill>
                <a:latin typeface="Avenir Next"/>
              </a:defRPr>
            </a:pPr>
            <a:r>
              <a:t>Penny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081528"/>
            <a:ext cx="3035808" cy="21488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>
                <a:solidFill>
                  <a:srgbClr val="21232B"/>
                </a:solidFill>
                <a:latin typeface="Avenir Next"/>
              </a:defRPr>
            </a:pPr>
            <a:r>
              <a:t>Open the spending dashboard. Confirm the merchant, amount and date for your new receipt.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148840"/>
            <a:ext cx="3547872" cy="3264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2148840"/>
            <a:ext cx="3547872" cy="68580"/>
          </a:xfrm>
          <a:prstGeom prst="rect">
            <a:avLst/>
          </a:prstGeom>
          <a:solidFill>
            <a:srgbClr val="E86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44568" y="23957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86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459736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2395728"/>
            <a:ext cx="248716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21232B"/>
                </a:solidFill>
                <a:latin typeface="Avenir Next"/>
              </a:defRPr>
            </a:pPr>
            <a:r>
              <a:t>Milo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081528"/>
            <a:ext cx="3035808" cy="21488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>
                <a:solidFill>
                  <a:srgbClr val="21232B"/>
                </a:solidFill>
                <a:latin typeface="Avenir Next"/>
              </a:defRPr>
            </a:pPr>
            <a:r>
              <a:t>Open the food log. Confirm the meal description and photo-backed entry.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2148840"/>
            <a:ext cx="3547872" cy="3264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3" y="2148840"/>
            <a:ext cx="3547872" cy="68580"/>
          </a:xfrm>
          <a:prstGeom prst="rect">
            <a:avLst/>
          </a:prstGeom>
          <a:solidFill>
            <a:srgbClr val="21A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30183" y="239572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1A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2459736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4" y="2395728"/>
            <a:ext cx="248716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>
                <a:solidFill>
                  <a:srgbClr val="21232B"/>
                </a:solidFill>
                <a:latin typeface="Avenir Next"/>
              </a:defRPr>
            </a:pPr>
            <a:r>
              <a:t>Ask Ollie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3081528"/>
            <a:ext cx="3035808" cy="21488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>
                <a:solidFill>
                  <a:srgbClr val="21232B"/>
                </a:solidFill>
                <a:latin typeface="Avenir Next"/>
              </a:defRPr>
            </a:pPr>
            <a:r>
              <a:t>Try a follow-up such as “How much did I spend today?” Compare the reply with saved records.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7" y="5833872"/>
            <a:ext cx="11128248" cy="438912"/>
          </a:xfrm>
          <a:prstGeom prst="roundRect">
            <a:avLst>
              <a:gd name="adj" fmla="val 8000"/>
            </a:avLst>
          </a:prstGeom>
          <a:solidFill>
            <a:srgbClr val="EE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207" y="5833872"/>
            <a:ext cx="73152" cy="438912"/>
          </a:xfrm>
          <a:prstGeom prst="rect">
            <a:avLst/>
          </a:prstGeom>
          <a:solidFill>
            <a:srgbClr val="21A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925312"/>
            <a:ext cx="1069848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21232B"/>
                </a:solidFill>
                <a:latin typeface="Avenir Next"/>
              </a:defRPr>
            </a:pPr>
            <a:r>
              <a:t>For implementation details, see docs/architecture.md and docs/api-contract.md in the public repo.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