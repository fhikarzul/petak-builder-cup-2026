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Petak: judge user manual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A guided tour of the prepared account, specialist dashboards, tasks and new captures.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76272"/>
            <a:ext cx="7543800" cy="32461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7824" y="2468880"/>
            <a:ext cx="393192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21A391"/>
                </a:solidFill>
                <a:latin typeface="Avenir Next"/>
              </a:defRPr>
            </a:pPr>
            <a:r>
              <a:t>Start 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907792"/>
            <a:ext cx="6903720" cy="18653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900" b="1">
                <a:solidFill>
                  <a:srgbClr val="21232B"/>
                </a:solidFill>
                <a:latin typeface="Avenir Next"/>
              </a:defRPr>
            </a:pPr>
            <a:r>
              <a:t>Open a conversation.</a:t>
            </a:r>
            <a:br/>
            <a:r>
              <a:t>Check a saved record.</a:t>
            </a:r>
            <a:br/>
            <a:r>
              <a:t>Try a photo.</a:t>
            </a:r>
          </a:p>
        </p:txBody>
      </p:sp>
      <p:pic>
        <p:nvPicPr>
          <p:cNvPr id="15" name="Picture 14" descr="ollie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8200" y="2779776"/>
            <a:ext cx="640080" cy="640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412480" y="3483864"/>
            <a:ext cx="7589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200" b="1">
                <a:solidFill>
                  <a:srgbClr val="21232B"/>
                </a:solidFill>
                <a:latin typeface="Avenir Next"/>
              </a:defRPr>
            </a:pPr>
            <a:r>
              <a:t>Ollie</a:t>
            </a:r>
          </a:p>
        </p:txBody>
      </p:sp>
      <p:pic>
        <p:nvPicPr>
          <p:cNvPr id="17" name="Picture 16" descr="penny_h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1744" y="2779776"/>
            <a:ext cx="640080" cy="64008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336024" y="3483864"/>
            <a:ext cx="7589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200" b="1">
                <a:solidFill>
                  <a:srgbClr val="21232B"/>
                </a:solidFill>
                <a:latin typeface="Avenir Next"/>
              </a:defRPr>
            </a:pPr>
            <a:r>
              <a:t>Penny</a:t>
            </a:r>
          </a:p>
        </p:txBody>
      </p:sp>
      <p:pic>
        <p:nvPicPr>
          <p:cNvPr id="19" name="Picture 18" descr="milo_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05288" y="2779776"/>
            <a:ext cx="640080" cy="64008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259567" y="3483864"/>
            <a:ext cx="7589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200" b="1">
                <a:solidFill>
                  <a:srgbClr val="21232B"/>
                </a:solidFill>
                <a:latin typeface="Avenir Next"/>
              </a:defRPr>
            </a:pPr>
            <a:r>
              <a:t>Milo</a:t>
            </a:r>
          </a:p>
        </p:txBody>
      </p:sp>
      <p:pic>
        <p:nvPicPr>
          <p:cNvPr id="21" name="Picture 20" descr="mira_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28832" y="2779776"/>
            <a:ext cx="640080" cy="64008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183111" y="3483864"/>
            <a:ext cx="758952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200" b="1">
                <a:solidFill>
                  <a:srgbClr val="21232B"/>
                </a:solidFill>
                <a:latin typeface="Avenir Next"/>
              </a:defRPr>
            </a:pPr>
            <a:r>
              <a:t>Mira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21207" y="587959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21207" y="5879592"/>
            <a:ext cx="73152" cy="438912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5971031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Use the private QA build and reviewer credentials provided with the submission.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1  Open the prepared account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The shared reviewer account already contains examples for every active specialist.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Install / open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Open the Petak QA build supplied in the private judge access instructions.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Sign 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Use the reviewer sign-in details supplied separately. The public repository contains no password.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Check the home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Start in Chat. Ollie, Penny, Milo and Mira should already be available.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Shared account: any new messages or edits may be visible to other judges.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2  Know where to look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Chat is the front door. The board and dashboards show the saved result.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94560"/>
            <a:ext cx="2660904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94560"/>
            <a:ext cx="2660904" cy="64008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ollie_he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9031" y="2450592"/>
            <a:ext cx="850392" cy="85039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13232" y="3447288"/>
            <a:ext cx="2286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200" b="1">
                <a:solidFill>
                  <a:srgbClr val="21232B"/>
                </a:solidFill>
                <a:latin typeface="Avenir Next"/>
              </a:defRPr>
            </a:pPr>
            <a:r>
              <a:t>Ollie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3968496"/>
            <a:ext cx="2240280" cy="10607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500" b="0">
                <a:solidFill>
                  <a:srgbClr val="21232B"/>
                </a:solidFill>
                <a:latin typeface="Avenir Next"/>
              </a:defRPr>
            </a:pPr>
            <a:r>
              <a:t>Chat and routing. Ask a question or share a photo.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46704" y="2194560"/>
            <a:ext cx="2660904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346704" y="2194560"/>
            <a:ext cx="2660904" cy="64008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penny_he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5384" y="2450592"/>
            <a:ext cx="850392" cy="85039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529584" y="3447288"/>
            <a:ext cx="2286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200" b="1">
                <a:solidFill>
                  <a:srgbClr val="21232B"/>
                </a:solidFill>
                <a:latin typeface="Avenir Next"/>
              </a:defRPr>
            </a:pPr>
            <a:r>
              <a:t>Penny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7016" y="3968496"/>
            <a:ext cx="2240280" cy="10607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500" b="0">
                <a:solidFill>
                  <a:srgbClr val="21232B"/>
                </a:solidFill>
                <a:latin typeface="Avenir Next"/>
              </a:defRPr>
            </a:pPr>
            <a:r>
              <a:t>Spending history and the Penny dashboard.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6" y="2194560"/>
            <a:ext cx="2660904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63056" y="2194560"/>
            <a:ext cx="2660904" cy="64008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milo_he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31736" y="2450592"/>
            <a:ext cx="850392" cy="85039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345936" y="3447288"/>
            <a:ext cx="2286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200" b="1">
                <a:solidFill>
                  <a:srgbClr val="21232B"/>
                </a:solidFill>
                <a:latin typeface="Avenir Next"/>
              </a:defRPr>
            </a:pPr>
            <a:r>
              <a:t>Milo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73368" y="3968496"/>
            <a:ext cx="2240280" cy="10607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500" b="0">
                <a:solidFill>
                  <a:srgbClr val="21232B"/>
                </a:solidFill>
                <a:latin typeface="Avenir Next"/>
              </a:defRPr>
            </a:pPr>
            <a:r>
              <a:t>Food log and the Milo dashboard.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79408" y="2194560"/>
            <a:ext cx="2660904" cy="3154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979408" y="2194560"/>
            <a:ext cx="2660904" cy="64008"/>
          </a:xfrm>
          <a:prstGeom prst="rect">
            <a:avLst/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mira_hea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48088" y="2450592"/>
            <a:ext cx="850392" cy="85039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162288" y="3447288"/>
            <a:ext cx="2286000" cy="32918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2200" b="1">
                <a:solidFill>
                  <a:srgbClr val="21232B"/>
                </a:solidFill>
                <a:latin typeface="Avenir Next"/>
              </a:defRPr>
            </a:pPr>
            <a:r>
              <a:t>Mira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89720" y="3968496"/>
            <a:ext cx="2240280" cy="106070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500" b="0">
                <a:solidFill>
                  <a:srgbClr val="21232B"/>
                </a:solidFill>
                <a:latin typeface="Avenir Next"/>
              </a:defRPr>
            </a:pPr>
            <a:r>
              <a:t>Journal entries and the Mira dashboard.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Open Ollie's board to inspect tasks. Use the menu to switch between specialist dashboards.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3  Compare a prepared example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Use these records to see how conversation becomes a usable log.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76272"/>
            <a:ext cx="5349240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76272"/>
            <a:ext cx="5349240" cy="64008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05456"/>
            <a:ext cx="4754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500" b="1">
                <a:solidFill>
                  <a:srgbClr val="E86F56"/>
                </a:solidFill>
                <a:latin typeface="Avenir Next"/>
              </a:defRPr>
            </a:pPr>
            <a:r>
              <a:t>MILO · FOOD LOG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944368"/>
            <a:ext cx="4663440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500" b="1">
                <a:solidFill>
                  <a:srgbClr val="21232B"/>
                </a:solidFill>
                <a:latin typeface="Avenir Next"/>
              </a:defRPr>
            </a:pPr>
            <a:r>
              <a:t>4 October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3675887"/>
            <a:ext cx="4663440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0">
                <a:solidFill>
                  <a:srgbClr val="21232B"/>
                </a:solidFill>
                <a:latin typeface="Avenir Next"/>
              </a:defRPr>
            </a:pPr>
            <a:r>
              <a:t>Sandwich and coffee</a:t>
            </a:r>
            <a:br/>
            <a:r>
              <a:t>from Corner Bakery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2176272"/>
            <a:ext cx="5349240" cy="334670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09360" y="2176272"/>
            <a:ext cx="5349240" cy="64008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2505456"/>
            <a:ext cx="4754880" cy="27432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500" b="1">
                <a:solidFill>
                  <a:srgbClr val="DFA538"/>
                </a:solidFill>
                <a:latin typeface="Avenir Next"/>
              </a:defRPr>
            </a:pPr>
            <a:r>
              <a:t>PENNY · SPENDING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944368"/>
            <a:ext cx="4663440" cy="3931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500" b="1">
                <a:solidFill>
                  <a:srgbClr val="21232B"/>
                </a:solidFill>
                <a:latin typeface="Avenir Next"/>
              </a:defRPr>
            </a:pPr>
            <a:r>
              <a:t>4 October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3675887"/>
            <a:ext cx="4663440" cy="1078992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0">
                <a:solidFill>
                  <a:srgbClr val="21232B"/>
                </a:solidFill>
                <a:latin typeface="Avenir Next"/>
              </a:defRPr>
            </a:pPr>
            <a:r>
              <a:t>Corner Bakery expense</a:t>
            </a:r>
            <a:br/>
            <a:r>
              <a:t>S$9.60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1207" y="5852160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1207" y="5852160"/>
            <a:ext cx="73152" cy="438912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5943600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These are aligned text examples. They are not a linked receipt-and-meal photo pair.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4  Try a new food receipt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Use a sample receipt with no personal information.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Attach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In Chat, tap the paperclip and choose “From your photos”. Select a clear sample receipt.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Add context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Type a short caption, for example: “Lunch receipt. I ate the sandwich and drank the coffee.”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Send &amp;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Send once. Read the replies, answer any clarification, then open Penny and Milo to check saved entries.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A receipt can inform more than one specialist; check what was actually saved before concluding.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5  Try a separate meal photo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The prepared Milo food log already includes one photo example.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Pick a meal photo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Use the camera button or attach a sample food photo from your library.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Write a caption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For example: “I ate chicken porridge and a soft-boiled egg.” The photo and text send together.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Check Milo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Read Milo’s reply and inspect the new food log entry. Correct a detail in chat if needed.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Photo processing may take a moment. Exact replies and records depend on the image and context.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JUDGE WALKTHROUGH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6  Verify the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Judge the saved state as well as the conversation.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Penny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Open the spending dashboard. Confirm the merchant, amount and date for your new receipt.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Milo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Open the food log. Confirm the meal description and photo-backed entry.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Ask Ollie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Try a follow-up such as “How much did I spend today?” Compare the reply with saved records.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For implementation details, see docs/architecture.md and docs/api-contract.md in the public repo.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FEATURE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Ollie's board: manage tasks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The board gathers work from the active neighbours in one place.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8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Open the board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Open the menu and tap Ollie. The board shows tasks from Penny, Milo and Mira.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Filter tasks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Change the date range and status chips to inspect planned, in-progress, done or declined work.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Open a task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Tap a task to return to its conversation and answer the question there. Task status can also be changed on the board.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The board organizes tasks; the conversation holds the answer and supporting context.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FEATURE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Penny: spending and receipts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Use the dashboard to inspect the saved expense, not only the chat reply.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Choose a 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Open Penny from the menu. Switch between Today, Week, Month, Year or a custom date range.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Read the summary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Inspect spending totals, categories and receipt counts. Scroll to the expense log for individual entries.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Inspect evidence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Open an entry to check merchant, amount, date and receipt. If a detail is wrong, correct it in chat.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Prepared example: Corner Bakery · 4 October 2026 · S$9.60.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FEATURE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Milo: meals and nutrition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The food log shows what Milo saved from text and photos.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Choose a range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Open Milo from the menu. Use the date controls to move between recent and historical meals.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Inspect meals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Review food entries and the energy summary. Open the log to see the meal details and available photo evidence.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Compare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Check the 4 October sandwich and coffee against Penny, then inspect the separate porridge-and-egg photo example.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E86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A meal photo and a receipt are different inputs; do not assume they describe the same purchase.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FEATURE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Mira: journal and memories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Mira keeps personal moments that can be revisited by date and feeling.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11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Open the journal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Open Mira from the menu. The prepared account already contains journal entries.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Find an entry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Use the date range, feeling chips or “Search your thoughts” field to narrow the journal.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Add a reflection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Tell Mira about a day in chat or share a relevant photo. Return to the journal to check what was kept.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Use fictional or non-personal content when trying a new reflection in the shared QA account.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85216"/>
          </a:xfrm>
          <a:prstGeom prst="rect">
            <a:avLst/>
          </a:prstGeom>
          <a:solidFill>
            <a:srgbClr val="0809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128016"/>
            <a:ext cx="2011680" cy="2834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1">
                <a:solidFill>
                  <a:srgbClr val="FFFFFF"/>
                </a:solidFill>
                <a:latin typeface="Avenir Next"/>
              </a:defRPr>
            </a:pPr>
            <a:r>
              <a:t>PETAK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94760" y="155448"/>
            <a:ext cx="4617720" cy="2377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venir Next"/>
              </a:defRPr>
            </a:pPr>
            <a:r>
              <a:t>FEATURE REFERENCE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164592"/>
            <a:ext cx="2221992" cy="22860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FFFFFF"/>
                </a:solidFill>
                <a:latin typeface="Avenir Next"/>
              </a:defRPr>
            </a:pPr>
            <a:r>
              <a:t>AI BUILDER CUP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" y="859536"/>
            <a:ext cx="11064240" cy="59436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3100" b="1">
                <a:solidFill>
                  <a:srgbClr val="21232B"/>
                </a:solidFill>
                <a:latin typeface="Avenir Next"/>
              </a:defRPr>
            </a:pPr>
            <a:r>
              <a:t>Other places in the 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517904"/>
            <a:ext cx="10881360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600" b="0">
                <a:solidFill>
                  <a:srgbClr val="5B5E67"/>
                </a:solidFill>
                <a:latin typeface="Avenir Next"/>
              </a:defRPr>
            </a:pPr>
            <a:r>
              <a:t>The menu also exposes account and household controls.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6519672"/>
            <a:ext cx="11155680" cy="13716"/>
          </a:xfrm>
          <a:prstGeom prst="rect">
            <a:avLst/>
          </a:prstGeom>
          <a:solidFill>
            <a:srgbClr val="DCD7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6574536"/>
            <a:ext cx="8412480" cy="182880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000" b="0">
                <a:solidFill>
                  <a:srgbClr val="5B5E67"/>
                </a:solidFill>
                <a:latin typeface="Avenir Next"/>
              </a:defRPr>
            </a:pPr>
            <a:r>
              <a:t>Petak QA · use the reviewer access supplied separately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28248" y="6556248"/>
            <a:ext cx="502920" cy="2194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r">
              <a:defRPr sz="1100" b="1">
                <a:solidFill>
                  <a:srgbClr val="5B5E67"/>
                </a:solidFill>
                <a:latin typeface="Avenir Next"/>
              </a:defRPr>
            </a:pPr>
            <a:r>
              <a:t>12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30352" y="2148840"/>
            <a:ext cx="3547872" cy="68580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58952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53312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Your neighbours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See who lives in the household. Ollie, Penny, Milo and Mira are already active for this reviewer account.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15968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15968" y="2148840"/>
            <a:ext cx="3547872" cy="68580"/>
          </a:xfrm>
          <a:prstGeom prst="rect">
            <a:avLst/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44568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DFA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44568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38928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Photos &amp; credits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The menu shows coins and photo credits. The attachment sheet also shows the remaining photo allowance.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01583" y="2148840"/>
            <a:ext cx="3547872" cy="326440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DCD7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101583" y="2148840"/>
            <a:ext cx="3547872" cy="68580"/>
          </a:xfrm>
          <a:prstGeom prst="rect">
            <a:avLst/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330183" y="2395728"/>
            <a:ext cx="457200" cy="457200"/>
          </a:xfrm>
          <a:prstGeom prst="roundRect">
            <a:avLst>
              <a:gd name="adj" fmla="val 8000"/>
            </a:avLst>
          </a:prstGeom>
          <a:solidFill>
            <a:srgbClr val="8E64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30183" y="2459736"/>
            <a:ext cx="457200" cy="201168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Avenir Next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24544" y="2395728"/>
            <a:ext cx="2487168" cy="51206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2100" b="1">
                <a:solidFill>
                  <a:srgbClr val="21232B"/>
                </a:solidFill>
                <a:latin typeface="Avenir Next"/>
              </a:defRPr>
            </a:pPr>
            <a:r>
              <a:t>Settings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3081528"/>
            <a:ext cx="3035808" cy="2148839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700" b="0">
                <a:solidFill>
                  <a:srgbClr val="21232B"/>
                </a:solidFill>
                <a:latin typeface="Avenir Next"/>
              </a:defRPr>
            </a:pPr>
            <a:r>
              <a:t>Review personal details, notification preferences and Penny’s saved rules. Use Log out when finished.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21207" y="5833872"/>
            <a:ext cx="11128248" cy="438912"/>
          </a:xfrm>
          <a:prstGeom prst="roundRect">
            <a:avLst>
              <a:gd name="adj" fmla="val 8000"/>
            </a:avLst>
          </a:prstGeom>
          <a:solidFill>
            <a:srgbClr val="EEEA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21207" y="5833872"/>
            <a:ext cx="73152" cy="438912"/>
          </a:xfrm>
          <a:prstGeom prst="rect">
            <a:avLst/>
          </a:prstGeom>
          <a:solidFill>
            <a:srgbClr val="21A3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" y="5925312"/>
            <a:ext cx="10698480" cy="26517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>
              <a:defRPr sz="1400" b="0">
                <a:solidFill>
                  <a:srgbClr val="21232B"/>
                </a:solidFill>
                <a:latin typeface="Avenir Next"/>
              </a:defRPr>
            </a:pPr>
            <a:r>
              <a:t>The supplied demo video shows the full story; this manual is a reference while trying the app.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